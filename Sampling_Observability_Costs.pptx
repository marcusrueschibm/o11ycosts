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0"/>
  </p:normalViewPr>
  <p:slideViewPr>
    <p:cSldViewPr snapToGrid="0">
      <p:cViewPr varScale="1">
        <p:scale>
          <a:sx n="102" d="100"/>
          <a:sy n="102" d="100"/>
        </p:scale>
        <p:origin x="2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10/15/26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Opening slide. Hook: 'You're probably paying for telemetry you'll never look at. Let's fix that.'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Quick personal intro. Walk through agenda so attendees know what's coming.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divider — The Problem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the pain tangible. Most devs don't realize healthchecks dominate their trace volume.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Real numbers make the audience sit up. Adapt to your actual contract prices.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divider — The Playground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Briefly show the tech stack. Emphasize: this is the same stack you'd run in production, just local.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Draw the architecture mentally for the audience. The Collector is the leverage point.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divider — Baseline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actual PromQL. These are the three metrics you need. Highlight that errors must never be sampled away.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clears up the most common misconception. Prometheus has metrics about spans, not spans themselves.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divider — Probabilistic Sampling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Emphasize the key weakness: probabilistic sampling is content-blind. A trace with 5 errors has the same chance of being dropped as a healthy trace.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the audience feel the trade-off with real numbers.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divider — Tail Sampling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through the YAML line by line. The three policies cover 99% of real-world use cases.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sticky routing constraint is the most common production gotcha. Mention it explicitly.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comparison slide usually gets a photo from the audience. Clean, memorable.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divider — MCP + AI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USB-C analogy always lands well with devs. Emphasize read-only and human-in-the-loop.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through the flow left to right. Highlight: 60 lines of Python delivers AI-powered observability advice.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Read the prompt aloud. Every line has a reason. This is not magic — it's structured prompting with real data.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These are real numbers from the running demo. The 93% error rate on checkout is because cart/payment had an issue — great real-world example.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divider — Before / After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money slide. 90% cost reduction, 100% error fidelity. That's the pitch.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Don't skip this slide. RAM is the most common production surprise with tail sampling.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Section divider — Takeaways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These five rules are the takeaway. If someone writes nothing else down, these five lines are enough.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Bring it all together. The loop is the message: this is not a one-time setup, it's a continuous practice.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Give them the exact commands. Lowering the barrier to try it = higher retention.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Leave the GitHub links visible while people ask questions.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itle"/>
          <p:cNvSpPr txBox="1"/>
          <p:nvPr/>
        </p:nvSpPr>
        <p:spPr>
          <a:xfrm>
            <a:off x="540000" y="1080000"/>
            <a:ext cx="9720000" cy="1440000"/>
          </a:xfrm>
          <a:prstGeom prst="rect">
            <a:avLst/>
          </a:prstGeom>
        </p:spPr>
        <p:txBody>
          <a:bodyPr/>
          <a:lstStyle/>
          <a:p>
            <a:r>
              <a:rPr lang="en-US" sz="4800" b="1">
                <a:solidFill>
                  <a:srgbClr val="FFFFFF"/>
                </a:solidFill>
                <a:latin typeface="Arial"/>
                <a:ea typeface="Arial"/>
              </a:rPr>
              <a:t>Stop Collecting Everything</a:t>
            </a:r>
          </a:p>
        </p:txBody>
      </p:sp>
      <p:sp>
        <p:nvSpPr>
          <p:cNvPr id="100001" name="Subtitle"/>
          <p:cNvSpPr txBox="1"/>
          <p:nvPr/>
        </p:nvSpPr>
        <p:spPr>
          <a:xfrm>
            <a:off x="540000" y="270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solidFill>
                  <a:srgbClr val="A8C7FA"/>
                </a:solidFill>
                <a:latin typeface="Arial"/>
                <a:ea typeface="Arial"/>
              </a:rPr>
              <a:t>How to observe smarter, spend less, and still catch every bug</a:t>
            </a:r>
          </a:p>
        </p:txBody>
      </p:sp>
      <p:sp>
        <p:nvSpPr>
          <p:cNvPr id="100002" name="Meta"/>
          <p:cNvSpPr txBox="1"/>
          <p:nvPr/>
        </p:nvSpPr>
        <p:spPr>
          <a:xfrm>
            <a:off x="540000" y="5580000"/>
            <a:ext cx="9720000" cy="360000"/>
          </a:xfrm>
          <a:prstGeom prst="rect">
            <a:avLst/>
          </a:prstGeom>
        </p:spPr>
        <p:txBody>
          <a:bodyPr/>
          <a:lstStyle/>
          <a:p>
            <a:r>
              <a:rPr lang="en-US" sz="1300">
                <a:solidFill>
                  <a:srgbClr val="8AB4F8"/>
                </a:solidFill>
                <a:latin typeface="Arial"/>
                <a:ea typeface="Arial"/>
              </a:rPr>
              <a:t>Signal Over Noise: Smarter OpenTelemetry Sampling with AI  ·  Developer Conference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3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Who am I &amp; What we'll cover</a:t>
            </a:r>
          </a:p>
        </p:txBody>
      </p:sp>
      <p:sp>
        <p:nvSpPr>
          <p:cNvPr id="100004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👋  Marcus — Observability nerd, IBM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Agenda: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1.  The problem — telemetry costs explode as you scale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2.  OpenTelemetry &amp; the Astronomy Shop — our playground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3.  Baseline — measure before you cut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4.  Probabilistic Sampling — the sledgehammer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5.  Tail Sampling — the scalpel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6.  MCP + AI — the smart advisor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7.  Before / After — did it actually work?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8. 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5" name="Title"/>
          <p:cNvSpPr txBox="1"/>
          <p:nvPr/>
        </p:nvSpPr>
        <p:spPr>
          <a:xfrm>
            <a:off x="540000" y="1080000"/>
            <a:ext cx="9720000" cy="720000"/>
          </a:xfrm>
          <a:prstGeom prst="rect">
            <a:avLst/>
          </a:prstGeom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Arial"/>
                <a:ea typeface="Arial"/>
              </a:rPr>
              <a:t>The Problem</a:t>
            </a:r>
          </a:p>
        </p:txBody>
      </p:sp>
      <p:sp>
        <p:nvSpPr>
          <p:cNvPr id="100006" name="Sub"/>
          <p:cNvSpPr txBox="1"/>
          <p:nvPr/>
        </p:nvSpPr>
        <p:spPr>
          <a:xfrm>
            <a:off x="540000" y="21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A8C7FA"/>
                </a:solidFill>
                <a:latin typeface="Arial"/>
                <a:ea typeface="Arial"/>
              </a:rPr>
              <a:t>Your observability bill is growing faster than your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7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More traffic = more telemetry = more $$$</a:t>
            </a:r>
          </a:p>
        </p:txBody>
      </p:sp>
      <p:sp>
        <p:nvSpPr>
          <p:cNvPr id="100008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900">
                <a:solidFill>
                  <a:srgbClr val="161616"/>
                </a:solidFill>
                <a:latin typeface="Arial"/>
                <a:ea typeface="Arial"/>
              </a:rPr>
              <a:t>Every request generates spans.</a:t>
            </a:r>
          </a:p>
          <a:p>
            <a:r>
              <a:rPr lang="en-US" sz="1900">
                <a:solidFill>
                  <a:srgbClr val="161616"/>
                </a:solidFill>
                <a:latin typeface="Arial"/>
                <a:ea typeface="Arial"/>
              </a:rPr>
              <a:t>Every span gets exported.</a:t>
            </a:r>
          </a:p>
          <a:p>
            <a:r>
              <a:rPr lang="en-US" sz="1900">
                <a:solidFill>
                  <a:srgbClr val="161616"/>
                </a:solidFill>
                <a:latin typeface="Arial"/>
                <a:ea typeface="Arial"/>
              </a:rPr>
              <a:t>Every exported span costs money.</a:t>
            </a:r>
          </a:p>
          <a:p>
            <a:endParaRPr lang="en-US" sz="19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900">
                <a:solidFill>
                  <a:srgbClr val="161616"/>
                </a:solidFill>
                <a:latin typeface="Arial"/>
                <a:ea typeface="Arial"/>
              </a:rPr>
              <a:t>❌  You're paying for /healthcheck at 500 req/s</a:t>
            </a:r>
          </a:p>
          <a:p>
            <a:r>
              <a:rPr lang="en-US" sz="1900">
                <a:solidFill>
                  <a:srgbClr val="161616"/>
                </a:solidFill>
                <a:latin typeface="Arial"/>
                <a:ea typeface="Arial"/>
              </a:rPr>
              <a:t>❌  You're paying for static asset fetches</a:t>
            </a:r>
          </a:p>
          <a:p>
            <a:r>
              <a:rPr lang="en-US" sz="1900">
                <a:solidFill>
                  <a:srgbClr val="161616"/>
                </a:solidFill>
                <a:latin typeface="Arial"/>
                <a:ea typeface="Arial"/>
              </a:rPr>
              <a:t>❌  You're paying for internal retries that always succeed</a:t>
            </a:r>
          </a:p>
          <a:p>
            <a:endParaRPr lang="en-US" sz="19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900">
                <a:solidFill>
                  <a:srgbClr val="161616"/>
                </a:solidFill>
                <a:latin typeface="Arial"/>
                <a:ea typeface="Arial"/>
              </a:rPr>
              <a:t>✅  What you actually need:</a:t>
            </a:r>
          </a:p>
          <a:p>
            <a:r>
              <a:rPr lang="en-US" sz="1900">
                <a:solidFill>
                  <a:srgbClr val="161616"/>
                </a:solidFill>
                <a:latin typeface="Arial"/>
                <a:ea typeface="Arial"/>
              </a:rPr>
              <a:t>      → Errors  → Slow requests  → Business-critical 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9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The Observability Cost Formula</a:t>
            </a:r>
          </a:p>
        </p:txBody>
      </p:sp>
      <p:sp>
        <p:nvSpPr>
          <p:cNvPr id="100010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Cost  =  Spans/s  ×  Span size  ×  Retention  ×  Unit price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You control Spans/s — that's where sampling lives.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Example: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60 spans/s  ×  60s  ×  60min  ×  24h  =  5.18M spans/day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At $0.10 per 100k spans  →  ~$5 / day / service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Multiply by 20 microservices and 30 days: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→ ~$3,000 / month  —  just for traces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Sampling at 10%  →  $300 / month  —  same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1" name="Title"/>
          <p:cNvSpPr txBox="1"/>
          <p:nvPr/>
        </p:nvSpPr>
        <p:spPr>
          <a:xfrm>
            <a:off x="540000" y="1080000"/>
            <a:ext cx="9720000" cy="720000"/>
          </a:xfrm>
          <a:prstGeom prst="rect">
            <a:avLst/>
          </a:prstGeom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Arial"/>
                <a:ea typeface="Arial"/>
              </a:rPr>
              <a:t>The Playground</a:t>
            </a:r>
          </a:p>
        </p:txBody>
      </p:sp>
      <p:sp>
        <p:nvSpPr>
          <p:cNvPr id="100012" name="Sub"/>
          <p:cNvSpPr txBox="1"/>
          <p:nvPr/>
        </p:nvSpPr>
        <p:spPr>
          <a:xfrm>
            <a:off x="540000" y="21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A8C7FA"/>
                </a:solidFill>
                <a:latin typeface="Arial"/>
                <a:ea typeface="Arial"/>
              </a:rPr>
              <a:t>OpenTelemetry Astronomy Shop — a realistic microservice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3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Meet the Astronomy Shop</a:t>
            </a:r>
          </a:p>
        </p:txBody>
      </p:sp>
      <p:sp>
        <p:nvSpPr>
          <p:cNvPr id="100014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Official OpenTelemetry demo app — 20+ microservices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Languages: Go, Java, Python, Node.js, .NET, Ruby, PHP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Includes out of the box: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🔭  Frontend + cart + checkout + payment + product catalog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📊  OpenTelemetry Collector — the traffic cop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🔎  Jaeger — distributed traces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📈  Prometheus — metrics &amp; span metrics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📉  Grafana — dashboards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🚦  flagd — feature flags for controlled chaos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🤖  Load Generator — realistic traffic 24/7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Running on: macOS + Podman (no Docker needed)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5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How Data Flows</a:t>
            </a:r>
          </a:p>
        </p:txBody>
      </p:sp>
      <p:sp>
        <p:nvSpPr>
          <p:cNvPr id="100016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Browser  →  Astronomy Shop  →  Microservices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      ↓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OTLP (traces, metrics, logs)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      ↓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OpenTelemetry Collector  ← THIS is where we apply sampling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      ↓                    ↓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   Jaeger            Span Metrics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(full traces)              ↓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                      Prometheus  →  MCP Server  →  AI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Key insight: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You don't change the app.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You change the Collector config.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One file. Huge impact.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7" name="Title"/>
          <p:cNvSpPr txBox="1"/>
          <p:nvPr/>
        </p:nvSpPr>
        <p:spPr>
          <a:xfrm>
            <a:off x="540000" y="1080000"/>
            <a:ext cx="9720000" cy="720000"/>
          </a:xfrm>
          <a:prstGeom prst="rect">
            <a:avLst/>
          </a:prstGeom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Arial"/>
                <a:ea typeface="Arial"/>
              </a:rPr>
              <a:t>Step 1: Measure First</a:t>
            </a:r>
          </a:p>
        </p:txBody>
      </p:sp>
      <p:sp>
        <p:nvSpPr>
          <p:cNvPr id="100018" name="Sub"/>
          <p:cNvSpPr txBox="1"/>
          <p:nvPr/>
        </p:nvSpPr>
        <p:spPr>
          <a:xfrm>
            <a:off x="540000" y="21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A8C7FA"/>
                </a:solidFill>
                <a:latin typeface="Arial"/>
                <a:ea typeface="Arial"/>
              </a:rPr>
              <a:t>Never guess. Always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9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The Baseline: What Are We Dealing With?</a:t>
            </a:r>
          </a:p>
        </p:txBody>
      </p:sp>
      <p:sp>
        <p:nvSpPr>
          <p:cNvPr id="100020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Three questions to answer before touching anything: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1.  Who generates the most volume?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topk(20, sum by (service_name, span_name)(rate(traces_span_metrics_calls_total[5m])))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2.  Who has the most errors?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100 * rate(calls{status_code='ERROR'}) / rate(calls)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3.  Who is the slowest?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histogram_quantile(0.95, rate(duration_bucket[5m]))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Real numbers from our demo: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✦  60 spans/s total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✦  frontend-proxy/GET dominates at 11 spans/s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✦  checkout/PlaceOrder: 33% error rate  ← NEVER sample this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1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Span Metrics: Prometheus ≠ Jaeger</a:t>
            </a:r>
          </a:p>
        </p:txBody>
      </p:sp>
      <p:sp>
        <p:nvSpPr>
          <p:cNvPr id="100022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Common confusion: 'Does Prometheus store traces?'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NO. Here's what actually happens: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Spans  →  OTel Collector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                ↓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        Span Metrics Connector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        aggregates spans into counters &amp; histograms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                ↓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        Prometheus stores numbers, not traces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traces_span_metrics_calls_total  — just a counter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traces_span_metrics_duration_*  — just a histogram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Jaeger stores the actual spans with all attributes.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Prometheus stores aggregated statistics derived from spans.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3" name="Title"/>
          <p:cNvSpPr txBox="1"/>
          <p:nvPr/>
        </p:nvSpPr>
        <p:spPr>
          <a:xfrm>
            <a:off x="540000" y="900000"/>
            <a:ext cx="9720000" cy="720000"/>
          </a:xfrm>
          <a:prstGeom prst="rect">
            <a:avLst/>
          </a:prstGeom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Arial"/>
                <a:ea typeface="Arial"/>
              </a:rPr>
              <a:t>Sampling Method 1</a:t>
            </a:r>
          </a:p>
        </p:txBody>
      </p:sp>
      <p:sp>
        <p:nvSpPr>
          <p:cNvPr id="100024" name="Sub"/>
          <p:cNvSpPr txBox="1"/>
          <p:nvPr/>
        </p:nvSpPr>
        <p:spPr>
          <a:xfrm>
            <a:off x="540000" y="198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>
                <a:solidFill>
                  <a:srgbClr val="A8C7FA"/>
                </a:solidFill>
                <a:latin typeface="Arial"/>
                <a:ea typeface="Arial"/>
              </a:rPr>
              <a:t>Probabilistic Sampling — The Sledgehammer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5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Probabilistic Sampling: Roll the Dice</a:t>
            </a:r>
          </a:p>
        </p:txBody>
      </p:sp>
      <p:sp>
        <p:nvSpPr>
          <p:cNvPr id="100026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How it works: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Every span gets a random number. Keep it if number &lt; threshold.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Config (OTel Collector):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processors: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probabilistic_sampler: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  sampling_percentage: 10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# Add to trace pipeline: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processors: [...existing..., probabilistic_sampler]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✅  Pros: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Dead simple to configure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Immediate volume reduction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Works at head (decision at ingress)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Low CPU, low memory overhead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❌  Cons: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Blind — doesn't know if a trace has errors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Rare events might disappear completely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50% sampling ≠ 50% of errors retained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7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Probabilistic: The Numbers</a:t>
            </a:r>
          </a:p>
        </p:txBody>
      </p:sp>
      <p:sp>
        <p:nvSpPr>
          <p:cNvPr id="100028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Baseline:  60.5 spans/s  (100%)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After 50% sampling: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~30 spans/s  —  half the volume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Errors retained: ~50%  ← you just lost half your error data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After 10% sampling: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~6 spans/s  —  90% reduction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Errors retained: ~10%  ← only 1 in 10 errors visible in Jaeger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Conclusion: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Probabilistic sampling is great for healthy, high-volume,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low-importance traffic.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It is dangerous for error-prone or latency-sensitive operations.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You need a smarter approach for those.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9" name="Title"/>
          <p:cNvSpPr txBox="1"/>
          <p:nvPr/>
        </p:nvSpPr>
        <p:spPr>
          <a:xfrm>
            <a:off x="540000" y="900000"/>
            <a:ext cx="9720000" cy="720000"/>
          </a:xfrm>
          <a:prstGeom prst="rect">
            <a:avLst/>
          </a:prstGeom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Arial"/>
                <a:ea typeface="Arial"/>
              </a:rPr>
              <a:t>Sampling Method 2</a:t>
            </a:r>
          </a:p>
        </p:txBody>
      </p:sp>
      <p:sp>
        <p:nvSpPr>
          <p:cNvPr id="100030" name="Sub"/>
          <p:cNvSpPr txBox="1"/>
          <p:nvPr/>
        </p:nvSpPr>
        <p:spPr>
          <a:xfrm>
            <a:off x="540000" y="198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>
                <a:solidFill>
                  <a:srgbClr val="A8C7FA"/>
                </a:solidFill>
                <a:latin typeface="Arial"/>
                <a:ea typeface="Arial"/>
              </a:rPr>
              <a:t>Tail Sampling — The Scalpel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1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Tail Sampling: Wait, Then Decide</a:t>
            </a:r>
          </a:p>
        </p:txBody>
      </p:sp>
      <p:sp>
        <p:nvSpPr>
          <p:cNvPr id="100032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How it works: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Buffer the entire trace in memory.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Wait for all spans to arrive (decision_wait).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Apply policies — then decide keep or drop.</a:t>
            </a:r>
          </a:p>
          <a:p>
            <a:endParaRPr lang="en-US" sz="16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processors: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tail_sampling: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  decision_wait: 10s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  num_traces: 5000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  policies: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    - name: keep-errors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      type: status_code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      status_code: {status_codes: [ERROR]}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    - name: keep-slow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      type: latency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      latency: {threshold_ms: 1000}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    - name: sample-normal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      type: probabilistic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      probabilistic: {sampling_percentage: 10}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3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Tail Sampling: Pros &amp; Cons</a:t>
            </a:r>
          </a:p>
        </p:txBody>
      </p:sp>
      <p:sp>
        <p:nvSpPr>
          <p:cNvPr id="100034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✅  Pros: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Content-aware — knows about errors, latency, attributes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100% of errors retained  → no debugging blind spots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100% of slow traces retained  → p95 stays honest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Business-critical routes explicitly protected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Normal traffic sampled aggressively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❌  Cons: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Needs memory to buffer traces (5k traces × avg size)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All spans of a trace must hit the SAME Collector instance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  → no horizontal scaling without sticky routing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decision_wait adds latency to the export pipeline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More YAML to maintain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⚡  When to use: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When you care about error fidelity.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When latency outliers matter for debugging.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When you have business-critical flows to protect.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5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Head vs Tail: Pick the Right Tool</a:t>
            </a:r>
          </a:p>
        </p:txBody>
      </p:sp>
      <p:sp>
        <p:nvSpPr>
          <p:cNvPr id="100036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                  HEAD SAMPLING          TAIL SAMPLING</a:t>
            </a:r>
          </a:p>
          <a:p>
            <a:endParaRPr lang="en-US" sz="16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Decides at:         Span start             Trace complete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Knows errors?       No                     Yes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Memory overhead:    Minimal                Significant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Scaling:            Easy (stateless)       Tricky (sticky)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Config complexity:  1 line                 20+ lines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Error fidelity:     ~= sampling %          100%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Latency p95 intact: No                     Yes</a:t>
            </a:r>
          </a:p>
          <a:p>
            <a:endParaRPr lang="en-US" sz="16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Best for: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Head →  very high volume, low importance traffic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        (healthchecks, asset fetches, internal probes)</a:t>
            </a:r>
          </a:p>
          <a:p>
            <a:endParaRPr lang="en-US" sz="16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Tail →  any traffic where errors or latency matter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7" name="Title"/>
          <p:cNvSpPr txBox="1"/>
          <p:nvPr/>
        </p:nvSpPr>
        <p:spPr>
          <a:xfrm>
            <a:off x="540000" y="900000"/>
            <a:ext cx="9720000" cy="720000"/>
          </a:xfrm>
          <a:prstGeom prst="rect">
            <a:avLst/>
          </a:prstGeom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Arial"/>
                <a:ea typeface="Arial"/>
              </a:rPr>
              <a:t>Step 3: Enter the AI</a:t>
            </a:r>
          </a:p>
        </p:txBody>
      </p:sp>
      <p:sp>
        <p:nvSpPr>
          <p:cNvPr id="100038" name="Sub"/>
          <p:cNvSpPr txBox="1"/>
          <p:nvPr/>
        </p:nvSpPr>
        <p:spPr>
          <a:xfrm>
            <a:off x="540000" y="198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>
                <a:solidFill>
                  <a:srgbClr val="A8C7FA"/>
                </a:solidFill>
                <a:latin typeface="Arial"/>
                <a:ea typeface="Arial"/>
              </a:rPr>
              <a:t>MCP Sampling Advisor — real data, zero guessing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9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What is MCP?</a:t>
            </a:r>
          </a:p>
        </p:txBody>
      </p:sp>
      <p:sp>
        <p:nvSpPr>
          <p:cNvPr id="100040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Model Context Protocol — the USB-C of AI integrations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Before MCP:  every AI tool had a custom API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After MCP:   one standard, any AI client connects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KI Client (Claude, IBM Bob, ...)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     ↓  speaks MCP — always the same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MCP Server  (our Sampling Advisor)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     ↓  queries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  Prometheus  (live telemetry data)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Our server is READ-ONLY.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It cannot change anything.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It gives the AI real data.</a:t>
            </a: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The AI recommends — a human decides.</a:t>
            </a:r>
          </a:p>
          <a:p>
            <a:endParaRPr lang="en-US" sz="18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800">
                <a:solidFill>
                  <a:srgbClr val="161616"/>
                </a:solidFill>
                <a:latin typeface="Arial"/>
                <a:ea typeface="Arial"/>
              </a:rPr>
              <a:t>This is responsible AI. Not autonomous AI.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1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The MCP Sampling Advisor Architecture</a:t>
            </a:r>
          </a:p>
        </p:txBody>
      </p:sp>
      <p:sp>
        <p:nvSpPr>
          <p:cNvPr id="100042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Astronomy Shop  →  spans  →  OTel Collector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                                  ↓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                          Span Metrics Connector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                                  ↓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                           Prometheus :9090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                                  ↓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                     MCP Sampling Advisor :8000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                     (Python, 60 lines of code)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                                  ↓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                          AI Client  (any MCP client)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                                  ↓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                     Human-reviewed sampling policy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                                  ↓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                     Updated otelcol-config.yml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Four tools:  top_operations  ·  error_hotspots  ·  slow_operations  ·  sampling_candidates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3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The AI System Prompt That Matters</a:t>
            </a:r>
          </a:p>
        </p:txBody>
      </p:sp>
      <p:sp>
        <p:nvSpPr>
          <p:cNvPr id="100044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You are an Observability Sampling Advisor.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Use only MCP data — do not invent values.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Preserve errors, slow traces, and business-critical flows.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Recommend aggressive sampling only for: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→ high volume  +  low error rate  +  low latency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Deliver: evidence · risk · policy · validation · rollback plan.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Do not execute any change — a human decides.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Why this prompt matters: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→ 'do not invent values' — no hallucinated metrics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→ 'human decides' — guardrail against autonomous changes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→ 'evidence + risk' — forces the AI to show its work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The output per operation: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Operation  |  Volume  |  Errors  |  p95  |  Recommendation  |  Evidence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5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What the AI Actually Sees (Real Data)</a:t>
            </a:r>
          </a:p>
        </p:txBody>
      </p:sp>
      <p:sp>
        <p:nvSpPr>
          <p:cNvPr id="100046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From sampling_candidates — live from our demo:</a:t>
            </a:r>
          </a:p>
          <a:p>
            <a:endParaRPr lang="en-US" sz="16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🟢 SAMPLE  frontend-proxy / GET              15 spans/s   0% errors    &lt;50ms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🟢 SAMPLE  frontend-proxy / router egress    12 spans/s   0% errors    &lt;50ms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🟢 SAMPLE  frontend-web / resourceFetch       7 spans/s   0% errors    &lt;50ms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🟡 WATCH   product-catalog / GetProduct       4 spans/s   0% errors   730ms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🔴 KEEP    flagd / ResolveBoolean             1 spans/s  10% errors    &lt;50ms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🔴 KEEP    load-generator / POST              0.4 spans/s 18% errors  1700ms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🔴 KEEP    checkout / PlaceOrder              0.1 spans/s 93% errors  4800ms</a:t>
            </a:r>
          </a:p>
          <a:p>
            <a:endParaRPr lang="en-US" sz="16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SLOW TRACES (p95 &gt; 1000ms — always KEEP):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  browser_add_to_cart  9750ms  ·  documentLoad  9500ms  ·  checkout  4800ms</a:t>
            </a:r>
          </a:p>
          <a:p>
            <a:endParaRPr lang="en-US" sz="16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Recommended sampling: 10% on SAMPLE operations</a:t>
            </a:r>
          </a:p>
          <a:p>
            <a:r>
              <a:rPr lang="en-US" sz="1600">
                <a:solidFill>
                  <a:srgbClr val="161616"/>
                </a:solidFill>
                <a:latin typeface="Arial"/>
                <a:ea typeface="Arial"/>
              </a:rPr>
              <a:t>  Estimated reduction: ~85% volume  ·  0% error data lost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7" name="Title"/>
          <p:cNvSpPr txBox="1"/>
          <p:nvPr/>
        </p:nvSpPr>
        <p:spPr>
          <a:xfrm>
            <a:off x="540000" y="1080000"/>
            <a:ext cx="9720000" cy="720000"/>
          </a:xfrm>
          <a:prstGeom prst="rect">
            <a:avLst/>
          </a:prstGeom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Arial"/>
                <a:ea typeface="Arial"/>
              </a:rPr>
              <a:t>Step 4: Before / After</a:t>
            </a:r>
          </a:p>
        </p:txBody>
      </p:sp>
      <p:sp>
        <p:nvSpPr>
          <p:cNvPr id="100048" name="Sub"/>
          <p:cNvSpPr txBox="1"/>
          <p:nvPr/>
        </p:nvSpPr>
        <p:spPr>
          <a:xfrm>
            <a:off x="540000" y="21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A8C7FA"/>
                </a:solidFill>
                <a:latin typeface="Arial"/>
                <a:ea typeface="Arial"/>
              </a:rPr>
              <a:t>Did it actually work? Show the numbers.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9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The Results: Measure → Cut → Measure Again</a:t>
            </a:r>
          </a:p>
        </p:txBody>
      </p:sp>
      <p:sp>
        <p:nvSpPr>
          <p:cNvPr id="100050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600" dirty="0">
                <a:solidFill>
                  <a:srgbClr val="161616"/>
                </a:solidFill>
                <a:latin typeface="Arial"/>
                <a:ea typeface="Arial"/>
              </a:rPr>
              <a:t>Metric                              Baseline    50%      10%      Tail (AI)</a:t>
            </a:r>
          </a:p>
          <a:p>
            <a:r>
              <a:rPr lang="en-US" sz="1600" dirty="0">
                <a:solidFill>
                  <a:srgbClr val="161616"/>
                </a:solidFill>
                <a:latin typeface="Arial"/>
                <a:ea typeface="Arial"/>
              </a:rPr>
              <a:t>─────────────────────────────────────────────────────────────────</a:t>
            </a:r>
          </a:p>
          <a:p>
            <a:r>
              <a:rPr lang="en-US" sz="1600" dirty="0">
                <a:solidFill>
                  <a:srgbClr val="161616"/>
                </a:solidFill>
                <a:latin typeface="Arial"/>
                <a:ea typeface="Arial"/>
              </a:rPr>
              <a:t>Total spans/s                      60.5       30.2      6.1       6.3</a:t>
            </a:r>
          </a:p>
          <a:p>
            <a:r>
              <a:rPr lang="en-US" sz="1600" dirty="0">
                <a:solidFill>
                  <a:srgbClr val="161616"/>
                </a:solidFill>
                <a:latin typeface="Arial"/>
                <a:ea typeface="Arial"/>
              </a:rPr>
              <a:t>Top-1 operation spans/s     11.4        5.7      1.1       1.2</a:t>
            </a:r>
          </a:p>
          <a:p>
            <a:r>
              <a:rPr lang="en-US" sz="1600" dirty="0">
                <a:solidFill>
                  <a:srgbClr val="161616"/>
                </a:solidFill>
                <a:latin typeface="Arial"/>
                <a:ea typeface="Arial"/>
              </a:rPr>
              <a:t>Errors visible in Jaeger     yes        ~50%     ~10%      100% ✅</a:t>
            </a:r>
          </a:p>
          <a:p>
            <a:r>
              <a:rPr lang="en-US" sz="1600" dirty="0">
                <a:solidFill>
                  <a:srgbClr val="161616"/>
                </a:solidFill>
                <a:latin typeface="Arial"/>
                <a:ea typeface="Arial"/>
              </a:rPr>
              <a:t>Slow traces visible          yes        ~50%     ~10%      100% ✅</a:t>
            </a:r>
          </a:p>
          <a:p>
            <a:r>
              <a:rPr lang="en-US" sz="1600" dirty="0">
                <a:solidFill>
                  <a:srgbClr val="161616"/>
                </a:solidFill>
                <a:latin typeface="Arial"/>
                <a:ea typeface="Arial"/>
              </a:rPr>
              <a:t>Collector RAM              107 MB     108 MB   106 MB    215 MB</a:t>
            </a:r>
          </a:p>
          <a:p>
            <a:endParaRPr lang="en-US" sz="1600" dirty="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600" dirty="0">
                <a:solidFill>
                  <a:srgbClr val="161616"/>
                </a:solidFill>
                <a:latin typeface="Arial"/>
                <a:ea typeface="Arial"/>
              </a:rPr>
              <a:t>Volume reduction:     Baseline → Tail Sampling:  ~90%</a:t>
            </a:r>
          </a:p>
          <a:p>
            <a:r>
              <a:rPr lang="en-US" sz="1600" dirty="0">
                <a:solidFill>
                  <a:srgbClr val="161616"/>
                </a:solidFill>
                <a:latin typeface="Arial"/>
                <a:ea typeface="Arial"/>
              </a:rPr>
              <a:t>Error fidelity:              Baseline → Tail Sampling:  100% retained</a:t>
            </a:r>
          </a:p>
          <a:p>
            <a:r>
              <a:rPr lang="en-US" sz="1600" dirty="0">
                <a:solidFill>
                  <a:srgbClr val="161616"/>
                </a:solidFill>
                <a:latin typeface="Arial"/>
                <a:ea typeface="Arial"/>
              </a:rPr>
              <a:t>Cost reduction:          ~90% of ingest costs eliminated</a:t>
            </a:r>
          </a:p>
          <a:p>
            <a:endParaRPr lang="en-US" sz="1600" dirty="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600" dirty="0">
                <a:solidFill>
                  <a:srgbClr val="161616"/>
                </a:solidFill>
                <a:latin typeface="Arial"/>
                <a:ea typeface="Arial"/>
              </a:rPr>
              <a:t>Rule: Reduction % = (Baseline - After) / Baseline × 100</a:t>
            </a:r>
          </a:p>
          <a:p>
            <a:r>
              <a:rPr lang="en-US" sz="1600" dirty="0">
                <a:solidFill>
                  <a:srgbClr val="161616"/>
                </a:solidFill>
                <a:latin typeface="Arial"/>
                <a:ea typeface="Arial"/>
              </a:rPr>
              <a:t>  (60.5 - 6.3) / 60.5 × 100  =  89.6% reduction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1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The Collector RAM Trade-off</a:t>
            </a:r>
          </a:p>
        </p:txBody>
      </p:sp>
      <p:sp>
        <p:nvSpPr>
          <p:cNvPr id="100052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Tail Sampling has a cost: memory.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The Collector buffers up to num_traces traces simultaneously.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Each trace holds all spans in memory for decision_wait seconds.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Our demo:  107 MB → 215 MB  (+100% RAM)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In production: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Watch collector_memory_usage in Prometheus.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Set memory_limiter processor BEFORE tail_sampling.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If you scale horizontally: use a load balancer with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consistent hashing on trace ID.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Rule of thumb: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num_traces × avg_trace_size_bytes = required headroom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5000 traces × 40KB avg = 200MB headroom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If RAM is tight: reduce num_traces or increase sampling %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3" name="Title"/>
          <p:cNvSpPr txBox="1"/>
          <p:nvPr/>
        </p:nvSpPr>
        <p:spPr>
          <a:xfrm>
            <a:off x="540000" y="1080000"/>
            <a:ext cx="9720000" cy="720000"/>
          </a:xfrm>
          <a:prstGeom prst="rect">
            <a:avLst/>
          </a:prstGeom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Arial"/>
                <a:ea typeface="Arial"/>
              </a:rPr>
              <a:t>Key Takeaways</a:t>
            </a:r>
          </a:p>
        </p:txBody>
      </p:sp>
      <p:sp>
        <p:nvSpPr>
          <p:cNvPr id="100054" name="Sub"/>
          <p:cNvSpPr txBox="1"/>
          <p:nvPr/>
        </p:nvSpPr>
        <p:spPr>
          <a:xfrm>
            <a:off x="540000" y="21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A8C7FA"/>
                </a:solidFill>
                <a:latin typeface="Arial"/>
                <a:ea typeface="Arial"/>
              </a:rPr>
              <a:t>What to remember when you leave this room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5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The 5 Rules of Smart Sampling</a:t>
            </a:r>
          </a:p>
        </p:txBody>
      </p:sp>
      <p:sp>
        <p:nvSpPr>
          <p:cNvPr id="100056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900">
                <a:solidFill>
                  <a:srgbClr val="161616"/>
                </a:solidFill>
                <a:latin typeface="Arial"/>
                <a:ea typeface="Arial"/>
              </a:rPr>
              <a:t>1.  Measure first, cut second.</a:t>
            </a:r>
          </a:p>
          <a:p>
            <a:r>
              <a:rPr lang="en-US" sz="1900">
                <a:solidFill>
                  <a:srgbClr val="161616"/>
                </a:solidFill>
                <a:latin typeface="Arial"/>
                <a:ea typeface="Arial"/>
              </a:rPr>
              <a:t>    Never sample blind. Run a baseline. Know your top-N operations.</a:t>
            </a:r>
          </a:p>
          <a:p>
            <a:endParaRPr lang="en-US" sz="19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900">
                <a:solidFill>
                  <a:srgbClr val="161616"/>
                </a:solidFill>
                <a:latin typeface="Arial"/>
                <a:ea typeface="Arial"/>
              </a:rPr>
              <a:t>2.  Never sample errors away.</a:t>
            </a:r>
          </a:p>
          <a:p>
            <a:r>
              <a:rPr lang="en-US" sz="1900">
                <a:solidFill>
                  <a:srgbClr val="161616"/>
                </a:solidFill>
                <a:latin typeface="Arial"/>
                <a:ea typeface="Arial"/>
              </a:rPr>
              <a:t>    A 1% error rate at 10% sampling = 0.1% visible. That's a blind spot.</a:t>
            </a:r>
          </a:p>
          <a:p>
            <a:endParaRPr lang="en-US" sz="19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900">
                <a:solidFill>
                  <a:srgbClr val="161616"/>
                </a:solidFill>
                <a:latin typeface="Arial"/>
                <a:ea typeface="Arial"/>
              </a:rPr>
              <a:t>3.  Never sample slow traces away.</a:t>
            </a:r>
          </a:p>
          <a:p>
            <a:r>
              <a:rPr lang="en-US" sz="1900">
                <a:solidFill>
                  <a:srgbClr val="161616"/>
                </a:solidFill>
                <a:latin typeface="Arial"/>
                <a:ea typeface="Arial"/>
              </a:rPr>
              <a:t>    Your p95 dashboard will lie to you if slow traces are dropped.</a:t>
            </a:r>
          </a:p>
          <a:p>
            <a:endParaRPr lang="en-US" sz="19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900">
                <a:solidFill>
                  <a:srgbClr val="161616"/>
                </a:solidFill>
                <a:latin typeface="Arial"/>
                <a:ea typeface="Arial"/>
              </a:rPr>
              <a:t>4.  Protect what matters to the business.</a:t>
            </a:r>
          </a:p>
          <a:p>
            <a:r>
              <a:rPr lang="en-US" sz="1900">
                <a:solidFill>
                  <a:srgbClr val="161616"/>
                </a:solidFill>
                <a:latin typeface="Arial"/>
                <a:ea typeface="Arial"/>
              </a:rPr>
              <a:t>    checkout, payment, order confirmation — always KEEP.</a:t>
            </a:r>
          </a:p>
          <a:p>
            <a:endParaRPr lang="en-US" sz="19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900">
                <a:solidFill>
                  <a:srgbClr val="161616"/>
                </a:solidFill>
                <a:latin typeface="Arial"/>
                <a:ea typeface="Arial"/>
              </a:rPr>
              <a:t>5.  Measure again after every change.</a:t>
            </a:r>
          </a:p>
          <a:p>
            <a:r>
              <a:rPr lang="en-US" sz="1900">
                <a:solidFill>
                  <a:srgbClr val="161616"/>
                </a:solidFill>
                <a:latin typeface="Arial"/>
                <a:ea typeface="Arial"/>
              </a:rPr>
              <a:t>    Same load. Same duration. Same queries. Different sampling only.</a:t>
            </a:r>
          </a:p>
          <a:p>
            <a:r>
              <a:rPr lang="en-US" sz="1900">
                <a:solidFill>
                  <a:srgbClr val="161616"/>
                </a:solidFill>
                <a:latin typeface="Arial"/>
                <a:ea typeface="Arial"/>
              </a:rPr>
              <a:t>    That's how you prove the reduction is real.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7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The Full Loop</a:t>
            </a:r>
          </a:p>
        </p:txBody>
      </p:sp>
      <p:sp>
        <p:nvSpPr>
          <p:cNvPr id="100058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Observe  →  Measure  →  Analyze  →  Recommend  →  Review  →  Optimize  →  Measure again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1.  Deploy with OpenTelemetry — instrument once, export everywhere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2.  Baseline — 3 PromQL queries tell you everything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3.  Probabilistic Sampling — quick 80% win on healthy traffic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4.  Tail Sampling — protect errors, slow traces, critical flows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5.  MCP + AI — data-driven recommendations, not gut feelings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6.  Human Review — you stay in control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7.  Prove it — before/after with identical test conditions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Tools used today: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OTel Demo  ·  Podman  ·  Jaeger  ·  Prometheus  ·  MCP Python SDK  ·  60 lines of Python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9" name="Title"/>
          <p:cNvSpPr txBox="1"/>
          <p:nvPr/>
        </p:nvSpPr>
        <p:spPr>
          <a:xfrm>
            <a:off x="540000" y="36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3000" b="1">
                <a:solidFill>
                  <a:srgbClr val="0F62FE"/>
                </a:solidFill>
                <a:latin typeface="Arial"/>
                <a:ea typeface="Arial"/>
              </a:rPr>
              <a:t>Try It Yourself</a:t>
            </a:r>
          </a:p>
        </p:txBody>
      </p:sp>
      <p:sp>
        <p:nvSpPr>
          <p:cNvPr id="100060" name="Body"/>
          <p:cNvSpPr txBox="1"/>
          <p:nvPr/>
        </p:nvSpPr>
        <p:spPr>
          <a:xfrm>
            <a:off x="540000" y="1080000"/>
            <a:ext cx="9720000" cy="4680000"/>
          </a:xfrm>
          <a:prstGeom prst="rect">
            <a:avLst/>
          </a:prstGeom>
        </p:spPr>
        <p:txBody>
          <a:bodyPr/>
          <a:lstStyle/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Everything shown today runs on your MacBook in ~15 minutes.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What you need: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macOS + Podman Desktop (free)  ·  16 GB RAM recommended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git clone https://github.com/open-telemetry/opentelemetry-demo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Then: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podman compose -f compose.yaml -f compose.observability.yaml \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-f compose.extras.yaml -f compose.podman.yaml \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  up --detach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Open http://localhost:8080/  — Astronomy Shop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Open http://localhost:9090/  — Prometheus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Open http://localhost:8080/jaeger/ui/  — Jaeger</a:t>
            </a:r>
          </a:p>
          <a:p>
            <a:endParaRPr lang="en-US" sz="1700">
              <a:solidFill>
                <a:srgbClr val="161616"/>
              </a:solidFill>
              <a:latin typeface="Arial"/>
              <a:ea typeface="Arial"/>
            </a:endParaRP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Handout &amp; scripts:</a:t>
            </a:r>
          </a:p>
          <a:p>
            <a:r>
              <a:rPr lang="en-US" sz="1700">
                <a:solidFill>
                  <a:srgbClr val="161616"/>
                </a:solidFill>
                <a:latin typeface="Arial"/>
                <a:ea typeface="Arial"/>
              </a:rPr>
              <a:t>  github.com/your-repo  (ANLEITUNG.md, measure.sh, mcp_advisor.sh)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61" name="Title"/>
          <p:cNvSpPr txBox="1"/>
          <p:nvPr/>
        </p:nvSpPr>
        <p:spPr>
          <a:xfrm>
            <a:off x="540000" y="1080000"/>
            <a:ext cx="9720000" cy="1080000"/>
          </a:xfrm>
          <a:prstGeom prst="rect">
            <a:avLst/>
          </a:prstGeom>
        </p:spPr>
        <p:txBody>
          <a:bodyPr/>
          <a:lstStyle/>
          <a:p>
            <a:r>
              <a:rPr lang="en-US" sz="5200" b="1">
                <a:solidFill>
                  <a:srgbClr val="FFFFFF"/>
                </a:solidFill>
                <a:latin typeface="Arial"/>
                <a:ea typeface="Arial"/>
              </a:rPr>
              <a:t>Thank You</a:t>
            </a:r>
          </a:p>
        </p:txBody>
      </p:sp>
      <p:sp>
        <p:nvSpPr>
          <p:cNvPr id="100062" name="Sub"/>
          <p:cNvSpPr txBox="1"/>
          <p:nvPr/>
        </p:nvSpPr>
        <p:spPr>
          <a:xfrm>
            <a:off x="540000" y="2520000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A8C7FA"/>
                </a:solidFill>
                <a:latin typeface="Arial"/>
                <a:ea typeface="Arial"/>
              </a:rPr>
              <a:t>Questions? Let's talk sampling, costs, and AI.</a:t>
            </a:r>
          </a:p>
        </p:txBody>
      </p:sp>
      <p:sp>
        <p:nvSpPr>
          <p:cNvPr id="100063" name="Meta"/>
          <p:cNvSpPr txBox="1"/>
          <p:nvPr/>
        </p:nvSpPr>
        <p:spPr>
          <a:xfrm>
            <a:off x="540000" y="4680000"/>
            <a:ext cx="9720000" cy="720000"/>
          </a:xfrm>
          <a:prstGeom prst="rect">
            <a:avLst/>
          </a:prstGeom>
        </p:spPr>
        <p:txBody>
          <a:bodyPr/>
          <a:lstStyle/>
          <a:p>
            <a:r>
              <a:rPr lang="en-US" sz="1300">
                <a:solidFill>
                  <a:srgbClr val="8AB4F8"/>
                </a:solidFill>
                <a:latin typeface="Arial"/>
                <a:ea typeface="Arial"/>
              </a:rPr>
              <a:t>Signal Over Noise: Smarter OpenTelemetry Sampling with AI</a:t>
            </a:r>
          </a:p>
          <a:p>
            <a:r>
              <a:rPr lang="en-US" sz="1300">
                <a:solidFill>
                  <a:srgbClr val="8AB4F8"/>
                </a:solidFill>
                <a:latin typeface="Arial"/>
                <a:ea typeface="Arial"/>
              </a:rPr>
              <a:t>github.com/open-telemetry/opentelemetry-demo  ·  modelcontextprotocol.io  ·  opentelemetry.io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2979</Words>
  <Application>Microsoft Macintosh PowerPoint</Application>
  <PresentationFormat>Breitbild</PresentationFormat>
  <Paragraphs>395</Paragraphs>
  <Slides>31</Slides>
  <Notes>31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OfficeCLI</dc:creator>
  <cp:lastModifiedBy>Marcus Rusch</cp:lastModifiedBy>
  <cp:revision>1</cp:revision>
  <dcterms:created xsi:type="dcterms:W3CDTF">2026-10-15T17:45:45Z</dcterms:created>
  <dcterms:modified xsi:type="dcterms:W3CDTF">2026-10-15T21:23:21Z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1.0.157</vt:lpwstr>
  </property>
  <property fmtid="{D5CDD505-2E9C-101B-9397-08002B2CF9AE}" pid="3" name="OfficeCLI.LastModified">
    <vt:lpwstr>2026-10-15T17:45:47Z</vt:lpwstr>
  </property>
</Properties>
</file>